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6" r:id="rId8"/>
    <p:sldId id="259" r:id="rId9"/>
    <p:sldId id="260" r:id="rId10"/>
    <p:sldId id="267" r:id="rId11"/>
    <p:sldId id="268" r:id="rId12"/>
    <p:sldId id="261" r:id="rId13"/>
    <p:sldId id="262" r:id="rId14"/>
    <p:sldId id="269" r:id="rId15"/>
    <p:sldId id="270" r:id="rId16"/>
    <p:sldId id="263" r:id="rId17"/>
    <p:sldId id="264" r:id="rId18"/>
    <p:sldId id="26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8A1B9-78CD-4D6A-9115-7859C80A8058}" v="1" dt="2026-10-22T12:25:30.975"/>
    <p1510:client id="{B799400C-976C-4FD1-901F-7EFF882DEAE4}" v="395" dt="2026-10-22T13:43:3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y, Helen C" userId="80814b1d-42a1-48c1-84aa-efb7524552c1" providerId="ADAL" clId="{37198984-9AA1-40DD-9F5C-EEAF621817BD}"/>
    <pc:docChg chg="undo custSel modSld">
      <pc:chgData name="Walkey, Helen C" userId="80814b1d-42a1-48c1-84aa-efb7524552c1" providerId="ADAL" clId="{37198984-9AA1-40DD-9F5C-EEAF621817BD}" dt="2026-10-22T13:43:31.624" v="404" actId="20577"/>
      <pc:docMkLst>
        <pc:docMk/>
      </pc:docMkLst>
      <pc:sldChg chg="modSp mod">
        <pc:chgData name="Walkey, Helen C" userId="80814b1d-42a1-48c1-84aa-efb7524552c1" providerId="ADAL" clId="{37198984-9AA1-40DD-9F5C-EEAF621817BD}" dt="2026-10-22T13:33:25.319" v="314" actId="20577"/>
        <pc:sldMkLst>
          <pc:docMk/>
          <pc:sldMk cId="0" sldId="256"/>
        </pc:sldMkLst>
        <pc:spChg chg="mod">
          <ac:chgData name="Walkey, Helen C" userId="80814b1d-42a1-48c1-84aa-efb7524552c1" providerId="ADAL" clId="{37198984-9AA1-40DD-9F5C-EEAF621817BD}" dt="2026-10-22T13:06:18.070" v="138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5:53.057" v="128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33:25.319" v="314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21:30.631" v="310" actId="2057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4:44.660" v="228" actId="22"/>
        <pc:sldMkLst>
          <pc:docMk/>
          <pc:sldMk cId="0" sldId="257"/>
        </pc:sldMkLst>
        <pc:spChg chg="mod">
          <ac:chgData name="Walkey, Helen C" userId="80814b1d-42a1-48c1-84aa-efb7524552c1" providerId="ADAL" clId="{37198984-9AA1-40DD-9F5C-EEAF621817BD}" dt="2026-10-22T12:23:54.615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0:07.698" v="79" actId="20577"/>
          <ac:spMkLst>
            <pc:docMk/>
            <pc:sldMk cId="0" sldId="257"/>
            <ac:spMk id="44" creationId="{5C443604-6245-FE79-848C-A6C0DDE168D0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6" creationId="{B3744820-80BD-058B-66FF-3BFDC21F96CA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8" creationId="{38A8C313-7BA9-C7A9-9773-502FD41DB942}"/>
          </ac:spMkLst>
        </pc:spChg>
        <pc:spChg chg="add del">
          <ac:chgData name="Walkey, Helen C" userId="80814b1d-42a1-48c1-84aa-efb7524552c1" providerId="ADAL" clId="{37198984-9AA1-40DD-9F5C-EEAF621817BD}" dt="2026-10-22T12:32:43.881" v="117" actId="478"/>
          <ac:spMkLst>
            <pc:docMk/>
            <pc:sldMk cId="0" sldId="257"/>
            <ac:spMk id="50" creationId="{B613DC3F-A260-660C-F3C2-101D6B8DEBD9}"/>
          </ac:spMkLst>
        </pc:spChg>
        <pc:spChg chg="add del">
          <ac:chgData name="Walkey, Helen C" userId="80814b1d-42a1-48c1-84aa-efb7524552c1" providerId="ADAL" clId="{37198984-9AA1-40DD-9F5C-EEAF621817BD}" dt="2026-10-22T13:14:32.735" v="227" actId="478"/>
          <ac:spMkLst>
            <pc:docMk/>
            <pc:sldMk cId="0" sldId="257"/>
            <ac:spMk id="54" creationId="{30E225FD-3B31-FEBA-7E8F-1EDD55AE6D39}"/>
          </ac:spMkLst>
        </pc:spChg>
        <pc:spChg chg="add del">
          <ac:chgData name="Walkey, Helen C" userId="80814b1d-42a1-48c1-84aa-efb7524552c1" providerId="ADAL" clId="{37198984-9AA1-40DD-9F5C-EEAF621817BD}" dt="2026-10-22T13:14:02.531" v="224" actId="22"/>
          <ac:spMkLst>
            <pc:docMk/>
            <pc:sldMk cId="0" sldId="257"/>
            <ac:spMk id="56" creationId="{6BCE5F53-2A0E-6DAB-2E5F-D64253DB72DC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8" creationId="{1B0632D0-7526-2351-8559-B1854BDD4AD8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9" creationId="{9FE75A08-77E0-FA4F-8D8F-5E81114DBCBC}"/>
          </ac:spMkLst>
        </pc:spChg>
        <pc:spChg chg="add">
          <ac:chgData name="Walkey, Helen C" userId="80814b1d-42a1-48c1-84aa-efb7524552c1" providerId="ADAL" clId="{37198984-9AA1-40DD-9F5C-EEAF621817BD}" dt="2026-10-22T13:14:44.660" v="228" actId="22"/>
          <ac:spMkLst>
            <pc:docMk/>
            <pc:sldMk cId="0" sldId="257"/>
            <ac:spMk id="61" creationId="{D5153D26-ACD5-A682-34A3-9A75E7608E55}"/>
          </ac:spMkLst>
        </pc:spChg>
        <pc:grpChg chg="add del mod">
          <ac:chgData name="Walkey, Helen C" userId="80814b1d-42a1-48c1-84aa-efb7524552c1" providerId="ADAL" clId="{37198984-9AA1-40DD-9F5C-EEAF621817BD}" dt="2026-10-22T13:13:50.754" v="221" actId="478"/>
          <ac:grpSpMkLst>
            <pc:docMk/>
            <pc:sldMk cId="0" sldId="257"/>
            <ac:grpSpMk id="51" creationId="{FFB0FB34-363B-E33A-6183-5D38670C8A8A}"/>
          </ac:grpSpMkLst>
        </pc:grpChg>
        <pc:grpChg chg="add mod">
          <ac:chgData name="Walkey, Helen C" userId="80814b1d-42a1-48c1-84aa-efb7524552c1" providerId="ADAL" clId="{37198984-9AA1-40DD-9F5C-EEAF621817BD}" dt="2026-10-22T13:13:48.689" v="220" actId="164"/>
          <ac:grpSpMkLst>
            <pc:docMk/>
            <pc:sldMk cId="0" sldId="257"/>
            <ac:grpSpMk id="52" creationId="{1D10BC06-253E-6D66-331D-F07FF909ABB4}"/>
          </ac:grpSpMkLst>
        </pc:grpChg>
        <pc:grpChg chg="add mod">
          <ac:chgData name="Walkey, Helen C" userId="80814b1d-42a1-48c1-84aa-efb7524552c1" providerId="ADAL" clId="{37198984-9AA1-40DD-9F5C-EEAF621817BD}" dt="2026-10-22T13:14:23.214" v="226" actId="1076"/>
          <ac:grpSpMkLst>
            <pc:docMk/>
            <pc:sldMk cId="0" sldId="257"/>
            <ac:grpSpMk id="57" creationId="{FC54C57A-E0D9-7B5C-70DA-20817EA2112E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08:55.902" v="148" actId="1076"/>
        <pc:sldMkLst>
          <pc:docMk/>
          <pc:sldMk cId="0" sldId="258"/>
        </pc:sldMkLst>
        <pc:spChg chg="mod">
          <ac:chgData name="Walkey, Helen C" userId="80814b1d-42a1-48c1-84aa-efb7524552c1" providerId="ADAL" clId="{37198984-9AA1-40DD-9F5C-EEAF621817BD}" dt="2026-10-22T12:26:29.218" v="4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7.976" v="142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4.362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43.825" v="146" actId="478"/>
          <ac:spMkLst>
            <pc:docMk/>
            <pc:sldMk cId="0" sldId="258"/>
            <ac:spMk id="36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25:41.185" v="13" actId="164"/>
          <ac:spMkLst>
            <pc:docMk/>
            <pc:sldMk cId="0" sldId="258"/>
            <ac:spMk id="42" creationId="{2282F8AB-4050-E53A-F450-079C4081999F}"/>
          </ac:spMkLst>
        </pc:spChg>
        <pc:spChg chg="add mod">
          <ac:chgData name="Walkey, Helen C" userId="80814b1d-42a1-48c1-84aa-efb7524552c1" providerId="ADAL" clId="{37198984-9AA1-40DD-9F5C-EEAF621817BD}" dt="2026-10-22T13:07:16.477" v="140" actId="20577"/>
          <ac:spMkLst>
            <pc:docMk/>
            <pc:sldMk cId="0" sldId="258"/>
            <ac:spMk id="44" creationId="{2A3D4664-02FF-01A3-6C82-EFFEF0E26CFB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7" creationId="{44E68BAA-8A03-CC7A-901A-C85E91053ABF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8" creationId="{2659925F-B520-AB84-1913-DAA2174EE0D6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0" creationId="{CAD73F20-FA1E-875F-6556-A772BF23A92D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1" creationId="{DBFD25B9-DCCF-DC76-C87E-5E380DA07545}"/>
          </ac:spMkLst>
        </pc:spChg>
        <pc:grpChg chg="add mod">
          <ac:chgData name="Walkey, Helen C" userId="80814b1d-42a1-48c1-84aa-efb7524552c1" providerId="ADAL" clId="{37198984-9AA1-40DD-9F5C-EEAF621817BD}" dt="2026-10-22T12:26:15.969" v="16" actId="14100"/>
          <ac:grpSpMkLst>
            <pc:docMk/>
            <pc:sldMk cId="0" sldId="258"/>
            <ac:grpSpMk id="45" creationId="{894E29DC-686F-1399-ADD2-A729B5C1566D}"/>
          </ac:grpSpMkLst>
        </pc:grpChg>
        <pc:grpChg chg="add mod">
          <ac:chgData name="Walkey, Helen C" userId="80814b1d-42a1-48c1-84aa-efb7524552c1" providerId="ADAL" clId="{37198984-9AA1-40DD-9F5C-EEAF621817BD}" dt="2026-10-22T13:08:41.625" v="145" actId="1076"/>
          <ac:grpSpMkLst>
            <pc:docMk/>
            <pc:sldMk cId="0" sldId="258"/>
            <ac:grpSpMk id="46" creationId="{74316844-861F-4409-7B27-AA3E521B0C69}"/>
          </ac:grpSpMkLst>
        </pc:grpChg>
        <pc:grpChg chg="add mod">
          <ac:chgData name="Walkey, Helen C" userId="80814b1d-42a1-48c1-84aa-efb7524552c1" providerId="ADAL" clId="{37198984-9AA1-40DD-9F5C-EEAF621817BD}" dt="2026-10-22T13:08:55.902" v="148" actId="1076"/>
          <ac:grpSpMkLst>
            <pc:docMk/>
            <pc:sldMk cId="0" sldId="258"/>
            <ac:grpSpMk id="49" creationId="{37959A04-79B9-981B-A3FA-E346B375EAB7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40:08.571" v="374" actId="20577"/>
        <pc:sldMkLst>
          <pc:docMk/>
          <pc:sldMk cId="0" sldId="259"/>
        </pc:sldMkLst>
        <pc:spChg chg="mod">
          <ac:chgData name="Walkey, Helen C" userId="80814b1d-42a1-48c1-84aa-efb7524552c1" providerId="ADAL" clId="{37198984-9AA1-40DD-9F5C-EEAF621817BD}" dt="2026-10-22T12:26:55.686" v="5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27:41.713" v="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0:08.571" v="374" actId="20577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2:31:04.978" v="96" actId="478"/>
          <ac:spMkLst>
            <pc:docMk/>
            <pc:sldMk cId="0" sldId="259"/>
            <ac:spMk id="42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3:39:07.153" v="316" actId="20577"/>
          <ac:spMkLst>
            <pc:docMk/>
            <pc:sldMk cId="0" sldId="259"/>
            <ac:spMk id="45" creationId="{8780E956-09B2-3315-A429-F7825D02DC2B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3:23.230" v="219" actId="20577"/>
        <pc:sldMkLst>
          <pc:docMk/>
          <pc:sldMk cId="0" sldId="260"/>
        </pc:sldMkLst>
        <pc:spChg chg="mod">
          <ac:chgData name="Walkey, Helen C" userId="80814b1d-42a1-48c1-84aa-efb7524552c1" providerId="ADAL" clId="{37198984-9AA1-40DD-9F5C-EEAF621817BD}" dt="2026-10-22T12:31:31.905" v="1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9:57.011" v="167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2:37.616" v="17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7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2:33:11.191" v="120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1:17.490" v="111" actId="20577"/>
          <ac:spMkLst>
            <pc:docMk/>
            <pc:sldMk cId="0" sldId="260"/>
            <ac:spMk id="44" creationId="{0A6D44B6-DC0D-223A-D3A4-48A197CEEF65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6" creationId="{83665264-9A07-66EA-DC64-9B6D412D344F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7" creationId="{700F2211-38E9-A0D5-56F9-0C370C4B9806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0" creationId="{5B300B4D-2230-6C3B-A4C7-AC4EBAD5BF64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1" creationId="{75F2B10D-2152-9C76-34CD-5C5A6EAAC593}"/>
          </ac:spMkLst>
        </pc:spChg>
        <pc:spChg chg="add mod">
          <ac:chgData name="Walkey, Helen C" userId="80814b1d-42a1-48c1-84aa-efb7524552c1" providerId="ADAL" clId="{37198984-9AA1-40DD-9F5C-EEAF621817BD}" dt="2026-10-22T13:13:23.230" v="219" actId="20577"/>
          <ac:spMkLst>
            <pc:docMk/>
            <pc:sldMk cId="0" sldId="260"/>
            <ac:spMk id="53" creationId="{D1CDC15E-D454-0265-3173-1ACE2AA2FA33}"/>
          </ac:spMkLst>
        </pc:spChg>
        <pc:grpChg chg="add del mod">
          <ac:chgData name="Walkey, Helen C" userId="80814b1d-42a1-48c1-84aa-efb7524552c1" providerId="ADAL" clId="{37198984-9AA1-40DD-9F5C-EEAF621817BD}" dt="2026-10-22T13:10:46.873" v="168" actId="478"/>
          <ac:grpSpMkLst>
            <pc:docMk/>
            <pc:sldMk cId="0" sldId="260"/>
            <ac:grpSpMk id="45" creationId="{06E755A3-59D2-2C4C-CC99-CBE1B369BB22}"/>
          </ac:grpSpMkLst>
        </pc:grpChg>
        <pc:grpChg chg="add mod">
          <ac:chgData name="Walkey, Helen C" userId="80814b1d-42a1-48c1-84aa-efb7524552c1" providerId="ADAL" clId="{37198984-9AA1-40DD-9F5C-EEAF621817BD}" dt="2026-10-22T13:10:58.340" v="169" actId="164"/>
          <ac:grpSpMkLst>
            <pc:docMk/>
            <pc:sldMk cId="0" sldId="260"/>
            <ac:grpSpMk id="48" creationId="{B86D2A0D-2AF6-8968-8C76-6A06F59955D5}"/>
          </ac:grpSpMkLst>
        </pc:grpChg>
        <pc:grpChg chg="add mod">
          <ac:chgData name="Walkey, Helen C" userId="80814b1d-42a1-48c1-84aa-efb7524552c1" providerId="ADAL" clId="{37198984-9AA1-40DD-9F5C-EEAF621817BD}" dt="2026-10-22T13:11:07.071" v="171" actId="1076"/>
          <ac:grpSpMkLst>
            <pc:docMk/>
            <pc:sldMk cId="0" sldId="260"/>
            <ac:grpSpMk id="49" creationId="{9BF128F6-A54D-739F-17F8-9EAA4D2E9AA6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9:05.127" v="269" actId="14100"/>
        <pc:sldMkLst>
          <pc:docMk/>
          <pc:sldMk cId="0" sldId="261"/>
        </pc:sldMkLst>
        <pc:spChg chg="del">
          <ac:chgData name="Walkey, Helen C" userId="80814b1d-42a1-48c1-84aa-efb7524552c1" providerId="ADAL" clId="{37198984-9AA1-40DD-9F5C-EEAF621817BD}" dt="2026-10-22T13:18:06.967" v="263" actId="478"/>
          <ac:spMkLst>
            <pc:docMk/>
            <pc:sldMk cId="0" sldId="261"/>
            <ac:spMk id="33" creationId="{00000000-0000-0000-0000-000000000000}"/>
          </ac:spMkLst>
        </pc:spChg>
        <pc:spChg chg="mod ord">
          <ac:chgData name="Walkey, Helen C" userId="80814b1d-42a1-48c1-84aa-efb7524552c1" providerId="ADAL" clId="{37198984-9AA1-40DD-9F5C-EEAF621817BD}" dt="2026-10-22T13:18:03.685" v="262" actId="167"/>
          <ac:spMkLst>
            <pc:docMk/>
            <pc:sldMk cId="0" sldId="261"/>
            <ac:spMk id="36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19:00.962" v="268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3:18:59.274" v="267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9:05.127" v="269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4" creationId="{84D3E0A9-14F3-ADF7-22E8-23C3A2C6A92A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5" creationId="{336C8871-1056-7FC0-B106-60689A10C023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7" creationId="{E230F825-1EC4-96FD-FF8B-0756FF0A60C5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8" creationId="{72C81B1A-D542-7B91-B308-90B7758CBC2D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0" creationId="{25C54DDC-C24A-A573-8E74-2ED7FC842019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1" creationId="{9F9034CA-5864-C047-BFFB-7AFC12B83FBA}"/>
          </ac:spMkLst>
        </pc:spChg>
        <pc:grpChg chg="add mod ord">
          <ac:chgData name="Walkey, Helen C" userId="80814b1d-42a1-48c1-84aa-efb7524552c1" providerId="ADAL" clId="{37198984-9AA1-40DD-9F5C-EEAF621817BD}" dt="2026-10-22T13:18:03.685" v="262" actId="167"/>
          <ac:grpSpMkLst>
            <pc:docMk/>
            <pc:sldMk cId="0" sldId="261"/>
            <ac:grpSpMk id="43" creationId="{9E0EDDA3-1BFC-1F61-528F-33CFCC10107B}"/>
          </ac:grpSpMkLst>
        </pc:grpChg>
        <pc:grpChg chg="add mod">
          <ac:chgData name="Walkey, Helen C" userId="80814b1d-42a1-48c1-84aa-efb7524552c1" providerId="ADAL" clId="{37198984-9AA1-40DD-9F5C-EEAF621817BD}" dt="2026-10-22T13:17:34.591" v="259"/>
          <ac:grpSpMkLst>
            <pc:docMk/>
            <pc:sldMk cId="0" sldId="261"/>
            <ac:grpSpMk id="46" creationId="{92A7DEDB-F5C1-6E09-2581-9FB0429CE8A5}"/>
          </ac:grpSpMkLst>
        </pc:grpChg>
        <pc:grpChg chg="add mod">
          <ac:chgData name="Walkey, Helen C" userId="80814b1d-42a1-48c1-84aa-efb7524552c1" providerId="ADAL" clId="{37198984-9AA1-40DD-9F5C-EEAF621817BD}" dt="2026-10-22T13:18:17.052" v="265" actId="1076"/>
          <ac:grpSpMkLst>
            <pc:docMk/>
            <pc:sldMk cId="0" sldId="261"/>
            <ac:grpSpMk id="49" creationId="{99A32631-E4C1-3B2D-1E9E-3CC55D7578FF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6:54.531" v="258" actId="478"/>
        <pc:sldMkLst>
          <pc:docMk/>
          <pc:sldMk cId="0" sldId="262"/>
        </pc:sldMkLst>
        <pc:spChg chg="add del mod">
          <ac:chgData name="Walkey, Helen C" userId="80814b1d-42a1-48c1-84aa-efb7524552c1" providerId="ADAL" clId="{37198984-9AA1-40DD-9F5C-EEAF621817BD}" dt="2026-10-22T13:16:54.531" v="258" actId="478"/>
          <ac:spMkLst>
            <pc:docMk/>
            <pc:sldMk cId="0" sldId="262"/>
            <ac:spMk id="39" creationId="{127FA6E6-B73E-AF1F-B903-A1956F637C69}"/>
          </ac:spMkLst>
        </pc:spChg>
        <pc:spChg chg="add mod">
          <ac:chgData name="Walkey, Helen C" userId="80814b1d-42a1-48c1-84aa-efb7524552c1" providerId="ADAL" clId="{37198984-9AA1-40DD-9F5C-EEAF621817BD}" dt="2026-10-22T13:16:45.611" v="257" actId="20577"/>
          <ac:spMkLst>
            <pc:docMk/>
            <pc:sldMk cId="0" sldId="262"/>
            <ac:spMk id="43" creationId="{94371EAE-CE7F-17BF-0C09-00F5D2252ED9}"/>
          </ac:spMkLst>
        </pc:spChg>
      </pc:sldChg>
      <pc:sldChg chg="modSp mod">
        <pc:chgData name="Walkey, Helen C" userId="80814b1d-42a1-48c1-84aa-efb7524552c1" providerId="ADAL" clId="{37198984-9AA1-40DD-9F5C-EEAF621817BD}" dt="2026-10-22T13:42:04.222" v="386" actId="20577"/>
        <pc:sldMkLst>
          <pc:docMk/>
          <pc:sldMk cId="0" sldId="263"/>
        </pc:sldMkLst>
        <pc:spChg chg="mod">
          <ac:chgData name="Walkey, Helen C" userId="80814b1d-42a1-48c1-84aa-efb7524552c1" providerId="ADAL" clId="{37198984-9AA1-40DD-9F5C-EEAF621817BD}" dt="2026-10-22T13:42:04.222" v="38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00.004" v="38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2:45.589" v="396" actId="20577"/>
        <pc:sldMkLst>
          <pc:docMk/>
          <pc:sldMk cId="0" sldId="264"/>
        </pc:sldMkLst>
        <pc:spChg chg="mod">
          <ac:chgData name="Walkey, Helen C" userId="80814b1d-42a1-48c1-84aa-efb7524552c1" providerId="ADAL" clId="{37198984-9AA1-40DD-9F5C-EEAF621817BD}" dt="2026-10-22T13:42:45.589" v="3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37.913" v="3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3:31.624" v="404" actId="20577"/>
        <pc:sldMkLst>
          <pc:docMk/>
          <pc:sldMk cId="0" sldId="265"/>
        </pc:sldMkLst>
        <pc:spChg chg="mod">
          <ac:chgData name="Walkey, Helen C" userId="80814b1d-42a1-48c1-84aa-efb7524552c1" providerId="ADAL" clId="{37198984-9AA1-40DD-9F5C-EEAF621817BD}" dt="2026-10-22T13:42:50.632" v="40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3:31.624" v="40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Whitaker, Charlotte J" userId="12271fd6-7136-49fb-a67d-d53ef9d2df56" providerId="ADAL" clId="{6A18FCA8-CFD9-49CB-AD4A-8D69BC05966E}"/>
    <pc:docChg chg="modSld">
      <pc:chgData name="Whitaker, Charlotte J" userId="12271fd6-7136-49fb-a67d-d53ef9d2df56" providerId="ADAL" clId="{6A18FCA8-CFD9-49CB-AD4A-8D69BC05966E}" dt="2026-10-22T12:25:30.969" v="0" actId="14100"/>
      <pc:docMkLst>
        <pc:docMk/>
      </pc:docMkLst>
      <pc:sldChg chg="modSp mod">
        <pc:chgData name="Whitaker, Charlotte J" userId="12271fd6-7136-49fb-a67d-d53ef9d2df56" providerId="ADAL" clId="{6A18FCA8-CFD9-49CB-AD4A-8D69BC05966E}" dt="2026-10-22T12:25:30.969" v="0" actId="14100"/>
        <pc:sldMkLst>
          <pc:docMk/>
          <pc:sldMk cId="0" sldId="256"/>
        </pc:sldMkLst>
        <pc:spChg chg="mod">
          <ac:chgData name="Whitaker, Charlotte J" userId="12271fd6-7136-49fb-a67d-d53ef9d2df56" providerId="ADAL" clId="{6A18FCA8-CFD9-49CB-AD4A-8D69BC05966E}" dt="2026-10-22T12:25:30.969" v="0" actId="14100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00D8D8"/>
            </a:solidFill>
          </c:spPr>
          <c:cat>
            <c:strRef>
              <c:f>Sheet1!$A$2:$A$10</c:f>
              <c:strCache>
                <c:ptCount val="9"/>
                <c:pt idx="0">
                  <c:v>Web Crawler</c:v>
                </c:pt>
                <c:pt idx="1">
                  <c:v>Zombie</c:v>
                </c:pt>
                <c:pt idx="2">
                  <c:v>Werewolf</c:v>
                </c:pt>
                <c:pt idx="3">
                  <c:v>Doppelgänger</c:v>
                </c:pt>
                <c:pt idx="4">
                  <c:v>Phantom</c:v>
                </c:pt>
                <c:pt idx="5">
                  <c:v>Shape-shifter</c:v>
                </c:pt>
                <c:pt idx="6">
                  <c:v>Vampire</c:v>
                </c:pt>
                <c:pt idx="7">
                  <c:v>Undead Student</c:v>
                </c:pt>
                <c:pt idx="8">
                  <c:v>Ghost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25</c:v>
                </c:pt>
                <c:pt idx="2">
                  <c:v>32</c:v>
                </c:pt>
                <c:pt idx="3">
                  <c:v>60</c:v>
                </c:pt>
                <c:pt idx="4">
                  <c:v>77</c:v>
                </c:pt>
                <c:pt idx="5">
                  <c:v>79</c:v>
                </c:pt>
                <c:pt idx="6">
                  <c:v>91</c:v>
                </c:pt>
                <c:pt idx="7">
                  <c:v>92</c:v>
                </c:pt>
                <c:pt idx="8">
                  <c:v>148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.6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FF7A00"/>
            </a:solidFill>
          </c:spPr>
          <c:cat>
            <c:strRef>
              <c:f>Sheet1!$A$2:$A$5</c:f>
              <c:strCache>
                <c:ptCount val="4"/>
                <c:pt idx="0">
                  <c:v>Other pairs</c:v>
                </c:pt>
                <c:pt idx="1">
                  <c:v>Phantom + Werewolf</c:v>
                </c:pt>
                <c:pt idx="2">
                  <c:v>Ghost + Undead Student</c:v>
                </c:pt>
                <c:pt idx="3">
                  <c:v>Vampire + Zombie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23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13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P_IDs</c:v>
                </c:pt>
              </c:strCache>
            </c:strRef>
          </c:tx>
          <c:spPr>
            <a:solidFill>
              <a:srgbClr val="00D8D8"/>
            </a:solidFill>
          </c:spPr>
          <c:cat>
            <c:strRef>
              <c:f>Sheet1!$A$2:$A$10</c:f>
              <c:strCache>
                <c:ptCount val="9"/>
                <c:pt idx="0">
                  <c:v>Web Crawler</c:v>
                </c:pt>
                <c:pt idx="1">
                  <c:v>Ghost</c:v>
                </c:pt>
                <c:pt idx="2">
                  <c:v>Werewolf</c:v>
                </c:pt>
                <c:pt idx="3">
                  <c:v>Phantom</c:v>
                </c:pt>
                <c:pt idx="4">
                  <c:v>Zombie</c:v>
                </c:pt>
                <c:pt idx="5">
                  <c:v>Doppelgänger</c:v>
                </c:pt>
                <c:pt idx="6">
                  <c:v>Shape-shifter</c:v>
                </c:pt>
                <c:pt idx="7">
                  <c:v>Vampire</c:v>
                </c:pt>
                <c:pt idx="8">
                  <c:v>Undead Student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11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F5F7F7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A7B4B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A7B4B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56877" y="17068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CoLab</a:t>
            </a:r>
            <a:endParaRPr lang="en-US" sz="1600">
              <a:solidFill>
                <a:srgbClr val="00D8D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1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MONSTER HACK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84048" y="6473952"/>
            <a:ext cx="11411712" cy="0"/>
          </a:xfrm>
          <a:prstGeom prst="line">
            <a:avLst/>
          </a:prstGeom>
          <a:noFill/>
          <a:ln w="12700">
            <a:solidFill>
              <a:srgbClr val="203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39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submission template • Maximum 15 slides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732636-F015-6F91-9880-284556AD4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05397"/>
            <a:ext cx="1647952" cy="357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79999-4703-E734-5EB5-D1C1C4554D81}"/>
              </a:ext>
            </a:extLst>
          </p:cNvPr>
          <p:cNvCxnSpPr/>
          <p:nvPr userDrawn="1"/>
        </p:nvCxnSpPr>
        <p:spPr>
          <a:xfrm>
            <a:off x="2150534" y="182880"/>
            <a:ext cx="0" cy="359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822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TEMPLATE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11480" y="11704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MONSTER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38912" y="27249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00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evidence as you go.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438912" y="3182112"/>
            <a:ext cx="5166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sz="1200">
                <a:solidFill>
                  <a:srgbClr val="A7B4B8"/>
                </a:solidFill>
                <a:latin typeface="Aptos"/>
              </a:rPr>
              <a:t>Complete the core slides as you go. Each section also includes up to 2 optional evidence slides, so screenshots, charts and outputs can stay large and readable. Submit the matching Excel/code files at each checkpoint and collect raffle entries throughout the day.</a:t>
            </a:r>
          </a:p>
        </p:txBody>
      </p:sp>
      <p:sp>
        <p:nvSpPr>
          <p:cNvPr id="6" name="Shape 4"/>
          <p:cNvSpPr/>
          <p:nvPr/>
        </p:nvSpPr>
        <p:spPr>
          <a:xfrm>
            <a:off x="438912" y="4370832"/>
            <a:ext cx="19202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6072" y="4471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FF7A00"/>
                </a:solidFill>
                <a:latin typeface="Aptos"/>
              </a:rPr>
              <a:t>MAXIMUM 15 SLIDES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4370832"/>
            <a:ext cx="21488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51760" y="4471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0D8D8"/>
                </a:solidFill>
                <a:latin typeface="Aptos"/>
              </a:rPr>
              <a:t>UP TO 2 EXTRA EVIDENCE SLIDES PER SECTION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4370832"/>
            <a:ext cx="224028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4471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D8D8"/>
                </a:solidFill>
                <a:latin typeface="Aptos"/>
              </a:rPr>
              <a:t>FULL IDs GO IN EXCEL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347472" cy="34747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024128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024128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manually</a:t>
            </a:r>
            <a:endParaRPr lang="en-US" sz="980"/>
          </a:p>
        </p:txBody>
      </p:sp>
      <p:sp>
        <p:nvSpPr>
          <p:cNvPr id="17" name="Shape 15"/>
          <p:cNvSpPr/>
          <p:nvPr/>
        </p:nvSpPr>
        <p:spPr>
          <a:xfrm>
            <a:off x="2724912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834640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34640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291840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291840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detector</a:t>
            </a:r>
            <a:endParaRPr lang="en-US" sz="980"/>
          </a:p>
        </p:txBody>
      </p:sp>
      <p:sp>
        <p:nvSpPr>
          <p:cNvPr id="22" name="Shape 20"/>
          <p:cNvSpPr/>
          <p:nvPr/>
        </p:nvSpPr>
        <p:spPr>
          <a:xfrm>
            <a:off x="4992624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02352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02352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559552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559552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10% test data</a:t>
            </a:r>
            <a:endParaRPr lang="en-US" sz="980"/>
          </a:p>
        </p:txBody>
      </p:sp>
      <p:sp>
        <p:nvSpPr>
          <p:cNvPr id="27" name="Shape 25"/>
          <p:cNvSpPr/>
          <p:nvPr/>
        </p:nvSpPr>
        <p:spPr>
          <a:xfrm>
            <a:off x="7260336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70064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70064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827264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7827264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early signs in 10%</a:t>
            </a:r>
            <a:endParaRPr lang="en-US" sz="980"/>
          </a:p>
        </p:txBody>
      </p:sp>
      <p:sp>
        <p:nvSpPr>
          <p:cNvPr id="32" name="Shape 30"/>
          <p:cNvSpPr/>
          <p:nvPr/>
        </p:nvSpPr>
        <p:spPr>
          <a:xfrm>
            <a:off x="9528048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637776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37776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0094976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10094976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</a:rPr>
              <a:t>Best work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 rot="19800000">
            <a:off x="10087661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800000">
            <a:off x="11053267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966960" y="1476756"/>
            <a:ext cx="1584198" cy="1327709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68712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872216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404500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1008004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525201" y="2200961"/>
            <a:ext cx="497891" cy="256489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452360" y="2593238"/>
            <a:ext cx="4160520" cy="2152498"/>
          </a:xfrm>
          <a:prstGeom prst="rect">
            <a:avLst/>
          </a:prstGeom>
          <a:solidFill>
            <a:srgbClr val="0E171B"/>
          </a:solidFill>
          <a:ln w="12700">
            <a:solidFill>
              <a:srgbClr val="2234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63524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DETAILS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7543800" y="2926080"/>
            <a:ext cx="3703320" cy="1417320"/>
          </a:xfrm>
          <a:prstGeom prst="rect">
            <a:avLst/>
          </a:prstGeom>
          <a:noFill/>
          <a:ln/>
        </p:spPr>
        <p:txBody>
          <a:bodyPr wrap="square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Team name / number: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________________________________</a:t>
            </a:r>
            <a:br>
              <a:rPr/>
            </a:b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Team members: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endParaRPr lang="en-US" sz="112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1 — HUNT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How did you find the monsters?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We turned each Monster Guide clue into one rule and tested it on the 80% training data. The full P_ID + monster list is in the HUNT Excel.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86200" cy="15087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Our approach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53872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LMS and video activity merged into one timeline in UK time, then one SQL rule per monster.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Every rule tested in variants (thresholds, time zones, endpoints); we kept the strictest reading the clue supports, because false positives cost points.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3886200" cy="187452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54864" cy="187452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044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gave them away?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353872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duplicated rows, activity after deregistering, copied rows under a new P_ID or module.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 i="0">
                <a:solidFill>
                  <a:srgbClr val="F5F7F7"/>
                </a:solidFill>
                <a:latin typeface="Aptos"/>
              </a:rPr>
              <a:t>fading after week 4, 3 h non-stop sessions, mostly at night, repeated 5x bursts, 200+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 + EXAMPLE PER MONSTER: SLIDE 4</a:t>
            </a:r>
          </a:p>
        </p:txBody>
      </p:sp>
      <p:sp>
        <p:nvSpPr>
          <p:cNvPr id="25" name="Shape 23"/>
          <p:cNvSpPr/>
          <p:nvPr/>
        </p:nvSpPr>
        <p:spPr>
          <a:xfrm>
            <a:off x="4553712" y="2084832"/>
            <a:ext cx="3749040" cy="35661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53712" y="2084832"/>
            <a:ext cx="54864" cy="356616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36592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did we find?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36592" y="2542032"/>
            <a:ext cx="3401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F5F7F7"/>
                </a:solidFill>
                <a:latin typeface="Aptos"/>
              </a:rPr>
              <a:t>620 findings</a:t>
            </a:r>
            <a:r>
              <a:rPr sz="1050" b="0" i="0">
                <a:solidFill>
                  <a:srgbClr val="A7B4B8"/>
                </a:solidFill>
                <a:latin typeface="Aptos"/>
              </a:rPr>
              <a:t> across 586 students, all 9 monster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736592" y="521208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CAUGHT AS 2 MONSTERS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HUNT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slide(s) completed</a:t>
            </a:r>
            <a:endParaRPr lang="en-US" sz="112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0BC06-253E-6D66-331D-F07FF909ABB4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Excel IDs submitted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All monsters correctly identified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5C443604-6245-FE79-848C-A6C0DDE168D0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HUNT Excel template for the full PID + monster type list.</a:t>
            </a:r>
            <a:endParaRPr lang="en-US" sz="99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54C57A-E0D9-7B5C-70DA-20817EA2112E}"/>
              </a:ext>
            </a:extLst>
          </p:cNvPr>
          <p:cNvGrpSpPr/>
          <p:nvPr/>
        </p:nvGrpSpPr>
        <p:grpSpPr>
          <a:xfrm>
            <a:off x="8851392" y="3927348"/>
            <a:ext cx="228600" cy="228600"/>
            <a:chOff x="8842248" y="3273552"/>
            <a:chExt cx="228600" cy="228600"/>
          </a:xfrm>
        </p:grpSpPr>
        <p:sp>
          <p:nvSpPr>
            <p:cNvPr id="58" name="Shape 34">
              <a:extLst>
                <a:ext uri="{FF2B5EF4-FFF2-40B4-BE49-F238E27FC236}">
                  <a16:creationId xmlns:a16="http://schemas.microsoft.com/office/drawing/2014/main" id="{1B0632D0-7526-2351-8559-B1854BDD4AD8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9FE75A08-77E0-FA4F-8D8F-5E81114DBCBC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61" name="Text 47">
            <a:extLst>
              <a:ext uri="{FF2B5EF4-FFF2-40B4-BE49-F238E27FC236}">
                <a16:creationId xmlns:a16="http://schemas.microsoft.com/office/drawing/2014/main" id="{D5153D26-ACD5-A682-34A3-9A75E7608E55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  <p:graphicFrame>
        <p:nvGraphicFramePr>
          <p:cNvPr id="62" name="HUNT chart"/>
          <p:cNvGraphicFramePr>
            <a:graphicFrameLocks noGrp="1"/>
          </p:cNvGraphicFramePr>
          <p:nvPr/>
        </p:nvGraphicFramePr>
        <p:xfrm>
          <a:off x="4681728" y="2816352"/>
          <a:ext cx="3520440" cy="2359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FF7A00"/>
                </a:solidFill>
                <a:latin typeface="Arial"/>
              </a:rPr>
              <a:t>SECTION 1 — HUNT (OPTIONAL EVIDENCE 1 OF 2)</a:t>
            </a:r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The clearest giveaways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Two findings no real student could produce, and one overlap worth knowing about.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Web Crawler: 529 pages in 2 min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P00010833 opened 529 distinct LMS items in 1 min 54 s on 14 Feb 2024. No human reads that fast.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RULE: OVER 200 ITEMS IN 12 H · 16 FOUND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830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8308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Doppelgänger: a perfect copy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P00002959 and P00336066 share the same 174 video views: same video, time, minutes and viewing type. Only the row IDs differ, and P00336066 isn't in person_dim.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18464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30 PAIRS · BOTH P_IDS SUBMITTED</a:t>
            </a:r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3872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3872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F5F7F7"/>
                </a:solidFill>
                <a:latin typeface="Aptos"/>
              </a:rPr>
              <a:t>Some students are two monsters</a:t>
            </a:r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23 of our 25 Zombies are also Vampires: their 3-hour non-stop runs mostly happen at night. Overlaps are allowed, so each is submitted under both types.</a:t>
            </a:r>
          </a:p>
        </p:txBody>
      </p:sp>
      <p:sp>
        <p:nvSpPr>
          <p:cNvPr id="29" name="Text 27"/>
          <p:cNvSpPr/>
          <p:nvPr/>
        </p:nvSpPr>
        <p:spPr>
          <a:xfrm>
            <a:off x="4681728" y="5184648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34 STUDENTS UNDER 2 TYPES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120" b="1" i="0">
                <a:solidFill>
                  <a:srgbClr val="FF7A00"/>
                </a:solidFill>
                <a:latin typeface="Aptos"/>
              </a:rPr>
              <a:t>HOW WE CHECKED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Counted every variant of each rule and compared the P_IDs it adds or drops</a:t>
            </a:r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F5F7F7"/>
                </a:solidFill>
                <a:latin typeface="Aptos"/>
              </a:rPr>
              <a:t>Read the raw rows of the edge cases before choosing a threshold</a:t>
            </a:r>
          </a:p>
        </p:txBody>
      </p:sp>
      <p:sp>
        <p:nvSpPr>
          <p:cNvPr id="39" name="Text 37"/>
          <p:cNvSpPr/>
          <p:nvPr/>
        </p:nvSpPr>
        <p:spPr>
          <a:xfrm>
            <a:off x="8842248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1019" b="0" i="1">
                <a:solidFill>
                  <a:srgbClr val="A7B4B8"/>
                </a:solidFill>
                <a:latin typeface="Aptos"/>
              </a:rPr>
              <a:t>Full P_ID list: HUNT Excel, MANUAL COMBINED.</a:t>
            </a: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3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316844-861F-4409-7B27-AA3E521B0C69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44E68BAA-8A03-CC7A-901A-C85E91053ABF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2659925F-B520-AB84-1913-DAA2174EE0D6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959A04-79B9-981B-A3FA-E346B375EAB7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CAD73F20-FA1E-875F-6556-A772BF23A92D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DBFD25B9-DCCF-DC76-C87E-5E380DA07545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aphicFrame>
        <p:nvGraphicFramePr>
          <p:cNvPr id="52" name="HUNT chart"/>
          <p:cNvGraphicFramePr>
            <a:graphicFrameLocks noGrp="1"/>
          </p:cNvGraphicFramePr>
          <p:nvPr/>
        </p:nvGraphicFramePr>
        <p:xfrm>
          <a:off x="4626864" y="3310128"/>
          <a:ext cx="356616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1 — HUNT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HUNT — What gave each monster away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One rule per monster, written from its Monster Guide clue, with one training example each.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86384" y="5413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sz="980" b="1" i="0">
                <a:solidFill>
                  <a:srgbClr val="00D8D8"/>
                </a:solidFill>
                <a:latin typeface="Aptos"/>
              </a:rPr>
              <a:t>TOTAL: 620 FINDINGS · 586 STUDENTS · FULL LIST IN THE HUNT EXCEL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4</a:t>
            </a:r>
          </a:p>
        </p:txBody>
      </p:sp>
      <p:graphicFrame>
        <p:nvGraphicFramePr>
          <p:cNvPr id="26" name="HUNT rules table"/>
          <p:cNvGraphicFramePr>
            <a:graphicFrameLocks noGrp="1"/>
          </p:cNvGraphicFramePr>
          <p:nvPr/>
        </p:nvGraphicFramePr>
        <p:xfrm>
          <a:off x="713232" y="2240280"/>
          <a:ext cx="10744199" cy="31089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4434840"/>
                <a:gridCol w="3977639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MONSTER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WHAT GAVE IT AWAY (OUR RULE)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TRAINING EXAMPLE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80" b="1" i="0">
                          <a:solidFill>
                            <a:srgbClr val="00D8D8"/>
                          </a:solidFill>
                          <a:latin typeface="Aptos"/>
                        </a:rPr>
                        <a:t>P_IDS</a:t>
                      </a:r>
                    </a:p>
                  </a:txBody>
                  <a:tcPr anchor="ctr" marL="91440" marR="91440" marT="27432" marB="27432">
                    <a:solidFill>
                      <a:srgbClr val="1523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Phantom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Two activity rows identical in every field except the row ID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P00000693: one LMS click recorded twice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Ghost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Active in 3+ of weeks 1–4, then under 10% of that weekly rate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P00007556: 50 rows in weeks 1–3, then none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148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Zombie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Over 3 hours of activity with no gap longer than 15 minutes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P00020056: 23:44 to 04:52, longest gap 14 min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Vampire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21 night-active dates, and more nights than days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P00013423: 273 night dates vs 236 day dates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91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Undead Student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Any activity after the deregistration date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P00019372: 134 rows after deregistering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92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Doppelgänger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All of one P_ID's activity reappears under another P_ID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P00002959 = P00336066: same 174 video views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Werewolf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2+ bursts in each term at 5x the student's usual day (40+ rows)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P00017160: usually 5 rows a day, bursts of 90–167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Web Crawler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More than 200 distinct pages and videos within 12 hours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P00010833: 529 pages in under 2 minutes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anchor="ctr" marL="91440" marR="91440" marT="27432" marB="27432">
                    <a:solidFill>
                      <a:srgbClr val="0D15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5F7F7"/>
                          </a:solidFill>
                          <a:latin typeface="Aptos"/>
                        </a:rPr>
                        <a:t>Shape-shifter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F5F7F7"/>
                          </a:solidFill>
                          <a:latin typeface="Aptos"/>
                        </a:rPr>
                        <a:t>Copied rows (_COPY_) on modules the student isn't registered on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A7B4B8"/>
                          </a:solidFill>
                          <a:latin typeface="Aptos"/>
                        </a:rPr>
                        <a:t>P00006918: 22 copied rows on a D03 module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00D8D8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anchor="ctr" marL="91440" marR="91440" marT="27432" marB="27432"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BUILD — Create your Monster Detector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Our nine HUNT rules became one detector that runs end to end with a single command.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3619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3619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What did we build?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8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0">
                <a:solidFill>
                  <a:srgbClr val="F5F7F7"/>
                </a:solidFill>
                <a:latin typeface="Aptos"/>
              </a:rPr>
              <a:t>A Python program reads the LMS and video logs, builds one timeline per student and runs 9 rules, one per monster, each written from its clue and tested on the training data.</a:t>
            </a:r>
            <a:endParaRPr lang="en-US" sz="1050"/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F5F7F7"/>
                </a:solidFill>
                <a:latin typeface="Aptos"/>
              </a:rPr>
              <a:t>Output: a paste-ready list of P_IDs and monster types.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350000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ONE COMMAND · 9 RULES · ABOUT 18 S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794760" cy="181051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4864" cy="181051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signals does it use?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105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Data slips: </a:t>
            </a:r>
            <a:r>
              <a:rPr sz="1050" b="0">
                <a:solidFill>
                  <a:srgbClr val="F5F7F7"/>
                </a:solidFill>
                <a:latin typeface="Aptos"/>
              </a:rPr>
              <a:t>exact duplicate rows · _COPY_ IDs · one student's rows under a 2nd ID · activity after the deregistration date.</a:t>
            </a:r>
            <a:endParaRPr lang="en-US" sz="1050"/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8D8"/>
                </a:solidFill>
                <a:latin typeface="Aptos"/>
              </a:rPr>
              <a:t>Behaviour: </a:t>
            </a:r>
            <a:r>
              <a:rPr sz="1050" b="0">
                <a:solidFill>
                  <a:srgbClr val="F5F7F7"/>
                </a:solidFill>
                <a:latin typeface="Aptos"/>
              </a:rPr>
              <a:t>activity after week 4 vs before · longest run without a 15-min break · night vs day dates · days at 5x normal · distinct pages in 12 h.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330000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FULL RULE PER MONSTER: SLIDE 4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2958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Show it working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2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Live run on the unseen TEST data </a:t>
            </a:r>
            <a:r>
              <a:rPr sz="1050" b="0">
                <a:solidFill>
                  <a:srgbClr val="A7B4B8"/>
                </a:solidFill>
                <a:latin typeface="Aptos"/>
              </a:rPr>
              <a:t>· about 18 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330000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80" b="1">
                <a:solidFill>
                  <a:srgbClr val="00D8D8"/>
                </a:solidFill>
                <a:latin typeface="Aptos"/>
              </a:rPr>
              <a:t>62 FINDINGS · 62 STUDENTS · NO WEB CRAWLERS IN TEST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BUILD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Working Monster Detector shown running on the </a:t>
            </a:r>
            <a:r>
              <a:rPr lang="en-GB" sz="950">
                <a:solidFill>
                  <a:srgbClr val="F5F7F7"/>
                </a:solidFill>
                <a:latin typeface="Aptos"/>
              </a:rPr>
              <a:t>1</a:t>
            </a:r>
            <a:r>
              <a:rPr sz="950">
                <a:solidFill>
                  <a:srgbClr val="F5F7F7"/>
                </a:solidFill>
                <a:latin typeface="Aptos"/>
              </a:rPr>
              <a:t>0% TEST data</a:t>
            </a:r>
            <a:r>
              <a:rPr lang="en-GB" sz="950">
                <a:solidFill>
                  <a:srgbClr val="F5F7F7"/>
                </a:solidFill>
                <a:latin typeface="Aptos"/>
              </a:rPr>
              <a:t> (call us over to show it to us live)</a:t>
            </a:r>
            <a:endParaRPr lang="en-US" sz="1120"/>
          </a:p>
        </p:txBody>
      </p:sp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Working code submitted</a:t>
            </a:r>
            <a:endParaRPr lang="en-US" sz="1120"/>
          </a:p>
        </p:txBody>
      </p:sp>
      <p:sp>
        <p:nvSpPr>
          <p:cNvPr id="39" name="Shape 37"/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71013"/>
                </a:solidFill>
                <a:latin typeface="Arial"/>
              </a:rPr>
              <a:t>→</a:t>
            </a:r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20">
                <a:solidFill>
                  <a:srgbClr val="DCE7E9"/>
                </a:solidFill>
                <a:latin typeface="Aptos"/>
              </a:rPr>
              <a:t>TEST raffle checks continue on the next slide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780E956-09B2-3315-A429-F7825D02DC2B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 </a:t>
            </a:r>
            <a:r>
              <a:rPr sz="900" b="1">
                <a:solidFill>
                  <a:srgbClr val="A7B4B8"/>
                </a:solidFill>
                <a:latin typeface="Aptos"/>
              </a:rPr>
              <a:t>=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2</a:t>
            </a:r>
            <a:r>
              <a:rPr sz="900" b="1">
                <a:solidFill>
                  <a:srgbClr val="A7B4B8"/>
                </a:solidFill>
                <a:latin typeface="Aptos"/>
              </a:rPr>
              <a:t> raffle entries</a:t>
            </a:r>
            <a:endParaRPr lang="en-US" sz="1020"/>
          </a:p>
        </p:txBody>
      </p:sp>
      <p:pic>
        <p:nvPicPr>
          <p:cNvPr id="46" name="Picture 45" descr="build_test_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880000"/>
            <a:ext cx="3465576" cy="2200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TEST — What did your detector find?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 same one command, run on the unseen 10% TEST data after every rule was scored against the HUNT answers. The full P_ID + monster list is in the TEST Excel.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TEST result summary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62 findings</a:t>
            </a:r>
            <a:r>
              <a:rPr sz="1050" b="0">
                <a:solidFill>
                  <a:srgbClr val="A7B4B8"/>
                </a:solidFill>
                <a:latin typeface="Aptos"/>
              </a:rPr>
              <a:t> across 62 students, 8 of the 9 monster types.</a:t>
            </a:r>
          </a:p>
          <a:p>
            <a:pPr marL="0" indent="0">
              <a:buNone/>
            </a:pPr>
            <a:r>
              <a:rPr sz="1050" b="0">
                <a:solidFill>
                  <a:srgbClr val="A7B4B8"/>
                </a:solidFill>
                <a:latin typeface="Aptos"/>
              </a:rPr>
              <a:t>No Web Crawlers in TEST, and no student is flagged as two monsters.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62 FINDINGS · 62 STUDENTS · 8 OF 9 TYPES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9222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9222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did we notice?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Tuned on HUNT first: </a:t>
            </a:r>
            <a:r>
              <a:rPr sz="1050" b="0">
                <a:solidFill>
                  <a:srgbClr val="F5F7F7"/>
                </a:solidFill>
                <a:latin typeface="Aptos"/>
              </a:rPr>
              <a:t>five rules tightened, then 437 of 449 HUNT findings were right (97%).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50" b="1">
                <a:solidFill>
                  <a:srgbClr val="00D8D8"/>
                </a:solidFill>
                <a:latin typeface="Aptos"/>
              </a:rPr>
              <a:t>Zero is a result: </a:t>
            </a:r>
            <a:r>
              <a:rPr sz="1050" b="0">
                <a:solidFill>
                  <a:srgbClr val="F5F7F7"/>
                </a:solidFill>
                <a:latin typeface="Aptos"/>
              </a:rPr>
              <a:t>the Web Crawler rule was 15 of 15 right on HUNT, so we kept it strict instead of loosening it to find one.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519379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LEAST CERTAIN: GHOST (1) AND WEREWOLF (2)</a:t>
            </a:r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4787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4787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TEST findings by monster</a:t>
            </a:r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 b="1">
                <a:solidFill>
                  <a:srgbClr val="F5F7F7"/>
                </a:solidFill>
                <a:latin typeface="Aptos"/>
              </a:rPr>
              <a:t>P_IDs per monster type</a:t>
            </a:r>
            <a:r>
              <a:rPr sz="1050" b="0">
                <a:solidFill>
                  <a:srgbClr val="A7B4B8"/>
                </a:solidFill>
                <a:latin typeface="Aptos"/>
              </a:rPr>
              <a:t> from the live run.</a:t>
            </a:r>
          </a:p>
        </p:txBody>
      </p:sp>
      <p:sp>
        <p:nvSpPr>
          <p:cNvPr id="29" name="Text 27"/>
          <p:cNvSpPr/>
          <p:nvPr/>
        </p:nvSpPr>
        <p:spPr>
          <a:xfrm>
            <a:off x="4681728" y="5193792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WEB CRAWLER 0 · NO STUDENT UNDER 2 TYPES</a:t>
            </a:r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TEST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slide(s) completed</a:t>
            </a:r>
            <a:endParaRPr lang="en-US" sz="112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6D2A0D-2AF6-8968-8C76-6A06F59955D5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Excel IDs submitted</a:t>
            </a:r>
            <a:endParaRPr lang="en-US" sz="1120"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19">
                <a:solidFill>
                  <a:srgbClr val="F5F7F7"/>
                </a:solidFill>
                <a:latin typeface="Aptos"/>
              </a:rPr>
              <a:t>All monsters correctly identified in TEST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6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A6D44B6-DC0D-223A-D3A4-48A197CEEF65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TEST Excel template for the full PID + monster type list.</a:t>
            </a:r>
            <a:endParaRPr lang="en-US" sz="99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BF128F6-A54D-739F-17F8-9EAA4D2E9AA6}"/>
              </a:ext>
            </a:extLst>
          </p:cNvPr>
          <p:cNvGrpSpPr/>
          <p:nvPr/>
        </p:nvGrpSpPr>
        <p:grpSpPr>
          <a:xfrm>
            <a:off x="8846820" y="3904309"/>
            <a:ext cx="228600" cy="228600"/>
            <a:chOff x="8842248" y="3273552"/>
            <a:chExt cx="228600" cy="228600"/>
          </a:xfrm>
        </p:grpSpPr>
        <p:sp>
          <p:nvSpPr>
            <p:cNvPr id="50" name="Shape 34">
              <a:extLst>
                <a:ext uri="{FF2B5EF4-FFF2-40B4-BE49-F238E27FC236}">
                  <a16:creationId xmlns:a16="http://schemas.microsoft.com/office/drawing/2014/main" id="{5B300B4D-2230-6C3B-A4C7-AC4EBAD5BF64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5">
              <a:extLst>
                <a:ext uri="{FF2B5EF4-FFF2-40B4-BE49-F238E27FC236}">
                  <a16:creationId xmlns:a16="http://schemas.microsoft.com/office/drawing/2014/main" id="{75F2B10D-2152-9C76-34CD-5C5A6EAAC593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53" name="Text 47">
            <a:extLst>
              <a:ext uri="{FF2B5EF4-FFF2-40B4-BE49-F238E27FC236}">
                <a16:creationId xmlns:a16="http://schemas.microsoft.com/office/drawing/2014/main" id="{D1CDC15E-D454-0265-3173-1ACE2AA2FA33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  <p:graphicFrame>
        <p:nvGraphicFramePr>
          <p:cNvPr id="54" name="TEST chart"/>
          <p:cNvGraphicFramePr>
            <a:graphicFrameLocks noGrp="1"/>
          </p:cNvGraphicFramePr>
          <p:nvPr/>
        </p:nvGraphicFramePr>
        <p:xfrm>
          <a:off x="4626864" y="2816352"/>
          <a:ext cx="3520440" cy="23591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0EDDA3-1BFC-1F61-528F-33CFCC10107B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84D3E0A9-14F3-ADF7-22E8-23C3A2C6A92A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336C8871-1056-7FC0-B106-60689A10C023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PREDICT — What does “starting to transform” mean?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There is no single prescribed answer. Define the early-warning signs your team will look for before the full monster behaviour appears.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22192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352958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Monster(s) we chose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behavioural monster or monsters are you predicting?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NAME THE MONSTER(S)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2628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Our definition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would “starting to turn into” this monster look like before the full monster behaviour appears?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0916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WRITE YOUR DEFINITION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3794760" cy="177393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54864" cy="177393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Early-warning signals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trends, features or changes will your model look for? Explain why you think they are meaningful.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0916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FEATURES / LOGIC / EXAMPLES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— PART 1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Use the next slide for your predictions and evidence</a:t>
            </a:r>
            <a:endParaRPr lang="en-US" sz="1120"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Large screenshots are welcome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8805672" y="391363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7B4B8"/>
                </a:solidFill>
                <a:latin typeface="Aptos"/>
              </a:rPr>
              <a:t>Your final PID + predicted monster</a:t>
            </a:r>
            <a:r>
              <a:rPr lang="en-GB" sz="900">
                <a:solidFill>
                  <a:srgbClr val="A7B4B8"/>
                </a:solidFill>
                <a:latin typeface="Aptos"/>
              </a:rPr>
              <a:t> type</a:t>
            </a:r>
            <a:r>
              <a:rPr sz="900">
                <a:solidFill>
                  <a:srgbClr val="A7B4B8"/>
                </a:solidFill>
                <a:latin typeface="Aptos"/>
              </a:rPr>
              <a:t> list goes in the PREDICT Excel submission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A7DEDB-F5C1-6E09-2581-9FB0429CE8A5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E230F825-1EC4-96FD-FF8B-0756FF0A60C5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72C81B1A-D542-7B91-B308-90B7758CBC2D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A32631-E4C1-3B2D-1E9E-3CC55D7578FF}"/>
              </a:ext>
            </a:extLst>
          </p:cNvPr>
          <p:cNvGrpSpPr/>
          <p:nvPr/>
        </p:nvGrpSpPr>
        <p:grpSpPr>
          <a:xfrm>
            <a:off x="8845386" y="254848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25C54DDC-C24A-A573-8E74-2ED7FC842019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9F9034CA-5864-C047-BFFB-7AFC12B83FBA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F5F7F7"/>
                </a:solidFill>
                <a:latin typeface="Arial Black"/>
              </a:rPr>
              <a:t>PREDICT — Who is starting to transform, and why?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Show us what your model found and justify the prediction. Use the space for clear visual evidence.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6732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Who did we identify?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1985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Summarise the students your model identified and what they may be turning into. Keep the full list in Excel.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SUMMARY / TABLE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6732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Why these students?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198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Explain what your model is seeing and why those patterns support your prediction.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572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1–3 SHORT POINTS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62272" y="2084832"/>
            <a:ext cx="385876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62272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5152" y="22128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Evidence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45152" y="2542032"/>
            <a:ext cx="351129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Show a chart, trend, feature importance, model output or another piece of evidence. Screenshots can be large.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45152" y="3218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PREDICT VISUAL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4462272" y="3840480"/>
            <a:ext cx="385876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462272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645152" y="3968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Bonus / advanced work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4645152" y="4297680"/>
            <a:ext cx="3511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end, explainability, extra visualisations, advanced modelling or anything else you explored.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645152" y="515721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80"/>
          </a:p>
        </p:txBody>
      </p:sp>
      <p:sp>
        <p:nvSpPr>
          <p:cNvPr id="35" name="Shape 33"/>
          <p:cNvSpPr/>
          <p:nvPr/>
        </p:nvSpPr>
        <p:spPr>
          <a:xfrm>
            <a:off x="8641080" y="2084832"/>
            <a:ext cx="3063240" cy="3511296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6968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RAFFLE CHECK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217152" y="26060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PREDICT slide(s) completed</a:t>
            </a:r>
            <a:endParaRPr lang="en-US" sz="1080"/>
          </a:p>
        </p:txBody>
      </p:sp>
      <p:sp>
        <p:nvSpPr>
          <p:cNvPr id="40" name="Text 38"/>
          <p:cNvSpPr/>
          <p:nvPr/>
        </p:nvSpPr>
        <p:spPr>
          <a:xfrm>
            <a:off x="9217152" y="32689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Excel predictions submitted</a:t>
            </a:r>
            <a:endParaRPr lang="en-US" sz="1080"/>
          </a:p>
        </p:txBody>
      </p:sp>
      <p:sp>
        <p:nvSpPr>
          <p:cNvPr id="42" name="Text 40"/>
          <p:cNvSpPr/>
          <p:nvPr/>
        </p:nvSpPr>
        <p:spPr>
          <a:xfrm>
            <a:off x="9217152" y="39684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working code submitted</a:t>
            </a:r>
            <a:endParaRPr lang="en-US" sz="1080"/>
          </a:p>
        </p:txBody>
      </p:sp>
      <p:sp>
        <p:nvSpPr>
          <p:cNvPr id="44" name="Text 42"/>
          <p:cNvSpPr/>
          <p:nvPr/>
        </p:nvSpPr>
        <p:spPr>
          <a:xfrm>
            <a:off x="9217152" y="4096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6" name="Text 44"/>
          <p:cNvSpPr/>
          <p:nvPr/>
        </p:nvSpPr>
        <p:spPr>
          <a:xfrm>
            <a:off x="9217152" y="45354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8" name="Text 46"/>
          <p:cNvSpPr/>
          <p:nvPr/>
        </p:nvSpPr>
        <p:spPr>
          <a:xfrm>
            <a:off x="9217152" y="4974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9" name="Text 47"/>
          <p:cNvSpPr/>
          <p:nvPr/>
        </p:nvSpPr>
        <p:spPr>
          <a:xfrm>
            <a:off x="8887968" y="54681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A7B4B8"/>
                </a:solidFill>
                <a:latin typeface="Aptos"/>
              </a:rPr>
              <a:t>All three completed = 3 raffle entries</a:t>
            </a:r>
            <a:endParaRPr lang="en-US" sz="102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F510D31-373D-B547-945C-310AB1A6477B}"/>
              </a:ext>
            </a:extLst>
          </p:cNvPr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5C73FFB8-DCC0-3BB1-0C3D-BDC4F88F82C3}"/>
              </a:ext>
            </a:extLst>
          </p:cNvPr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9C2DE458-ED70-4FCF-047E-69950B1D7BDD}"/>
              </a:ext>
            </a:extLst>
          </p:cNvPr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5BA16ABD-A4B4-C615-2B76-C011CF2FB9E9}"/>
              </a:ext>
            </a:extLst>
          </p:cNvPr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D993812E-4291-9A2D-F566-0546674FC5C1}"/>
              </a:ext>
            </a:extLst>
          </p:cNvPr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DA589CA6-41CE-B556-5AB1-000B4D353554}"/>
              </a:ext>
            </a:extLst>
          </p:cNvPr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371EAE-CE7F-17BF-0C09-00F5D2252ED9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PREDICT Excel template for the full PID + monster type list.</a:t>
            </a:r>
            <a:endParaRPr lang="en-US" sz="9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(PART 1)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Your 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best work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Our strongest output: the whole detector running live on the unseen TEST data, from one command to the paste-ready Excel list.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080760" y="2971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GB" sz="1300" b="1">
                <a:solidFill>
                  <a:srgbClr val="F5F7F7"/>
                </a:solidFill>
                <a:latin typeface="Aptos"/>
              </a:rPr>
              <a:t>One command, nine rules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1050" b="1">
                <a:solidFill>
                  <a:srgbClr val="F5F7F7"/>
                </a:solidFill>
                <a:latin typeface="Aptos"/>
              </a:rPr>
              <a:t>62 findings</a:t>
            </a:r>
            <a:r>
              <a:rPr lang="en-GB" sz="1050" b="0">
                <a:solidFill>
                  <a:srgbClr val="F5F7F7"/>
                </a:solidFill>
                <a:latin typeface="Aptos"/>
              </a:rPr>
              <a:t> across 62 students, 8 of the 9 monster types.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1050" b="1">
                <a:solidFill>
                  <a:srgbClr val="F5F7F7"/>
                </a:solidFill>
                <a:latin typeface="Aptos"/>
              </a:rPr>
              <a:t>About 12–18 s</a:t>
            </a:r>
            <a:r>
              <a:rPr lang="en-GB" sz="1050" b="0">
                <a:solidFill>
                  <a:srgbClr val="F5F7F7"/>
                </a:solidFill>
                <a:latin typeface="Aptos"/>
              </a:rPr>
              <a:t> on a laptop. Call us over and we'll run it live.</a:t>
            </a:r>
          </a:p>
          <a:p>
            <a:pPr marL="0" indent="0">
              <a:buNone/>
            </a:pPr>
            <a:r>
              <a:rPr lang="en-GB" sz="1050" b="1">
                <a:solidFill>
                  <a:srgbClr val="00D8D8"/>
                </a:solidFill>
                <a:latin typeface="Aptos"/>
              </a:rPr>
              <a:t>Scored on HUNT first:</a:t>
            </a:r>
            <a:r>
              <a:rPr lang="en-GB" sz="1050" b="0">
                <a:solidFill>
                  <a:srgbClr val="F5F7F7"/>
                </a:solidFill>
                <a:latin typeface="Aptos"/>
              </a:rPr>
              <a:t> 437 of 449 HUNT findings right (97%).</a:t>
            </a:r>
          </a:p>
        </p:txBody>
      </p:sp>
      <p:sp>
        <p:nvSpPr>
          <p:cNvPr id="7" name="Text 5"/>
          <p:cNvSpPr/>
          <p:nvPr/>
        </p:nvSpPr>
        <p:spPr>
          <a:xfrm>
            <a:off x="6080760" y="5074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UV RUN PYTHON -M DETECTOR TEST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7A00"/>
                </a:solidFill>
                <a:latin typeface="Aptos"/>
              </a:rPr>
              <a:t>SHOW — PART 1 OF 2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13</a:t>
            </a:r>
          </a:p>
        </p:txBody>
      </p:sp>
      <p:pic>
        <p:nvPicPr>
          <p:cNvPr id="26" name="Live run screenshot" descr="Terminal: uv run python -m detector test, per-monster counts, 62 rows, 62 distinct P_IDs, done in 17.8 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4824603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SHOWCASE (PART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4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400" b="1">
                <a:solidFill>
                  <a:srgbClr val="F5F7F7"/>
                </a:solidFill>
                <a:latin typeface="Arial Black"/>
              </a:rPr>
              <a:t> — What should the judges remember?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Agents did the typing. Every rule had to earn its place against the released HUNT answers before it ran on TEST.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37744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GB" sz="1300" b="1">
                <a:solidFill>
                  <a:srgbClr val="F5F7F7"/>
                </a:solidFill>
                <a:latin typeface="Aptos"/>
              </a:rPr>
              <a:t>How we used AI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GB" sz="1050" b="0">
                <a:solidFill>
                  <a:srgbClr val="F5F7F7"/>
                </a:solidFill>
                <a:latin typeface="Aptos"/>
              </a:rPr>
              <a:t>AI agents wrote the detector code, the SQL rules and drafts of these slides from our Monster Guide notes.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 sz="1050" b="0">
                <a:solidFill>
                  <a:srgbClr val="F5F7F7"/>
                </a:solidFill>
                <a:latin typeface="Aptos"/>
              </a:rPr>
              <a:t>We had them build a Scoring script, so no rule reached TEST until it was checked against the HUNT answers.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1300" b="1">
                <a:solidFill>
                  <a:srgbClr val="F5F7F7"/>
                </a:solidFill>
                <a:latin typeface="Aptos"/>
              </a:rPr>
              <a:t>What we checked ourselves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GB" sz="1050" b="0">
                <a:solidFill>
                  <a:srgbClr val="F5F7F7"/>
                </a:solidFill>
                <a:latin typeface="Aptos"/>
              </a:rPr>
              <a:t>We chose each retune, and when to stop: Web Crawler stays strict (15 of 15 right) instead of chasing its 32 misses.</a:t>
            </a:r>
          </a:p>
          <a:p>
            <a:pPr marL="171450" indent="-171450">
              <a:buFont typeface="Arial"/>
              <a:buChar char="•"/>
            </a:pPr>
            <a:r>
              <a:rPr lang="en-GB" sz="1050" b="0">
                <a:solidFill>
                  <a:srgbClr val="F5F7F7"/>
                </a:solidFill>
                <a:latin typeface="Aptos"/>
              </a:rPr>
              <a:t>We flag the weak spots: Ghost and Werewolf don't follow their clues in the answers, so they're our least certain results.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2120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HUNT PRECISION 65% → 97% AFTER FIVE RETUNES</a:t>
            </a:r>
            <a:endParaRPr lang="en-US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14</a:t>
            </a:r>
          </a:p>
        </p:txBody>
      </p:sp>
      <p:pic>
        <p:nvPicPr>
          <p:cNvPr id="26" name="Scoring before and after" descr="Scoring against the HUNT answers, before and after retuning: 406 right, 214 wrong (65%) before; 437 right, 12 wrong (97%) 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31720"/>
            <a:ext cx="5760720" cy="31683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final optional slide only if you still need space for an important screenshot, chart, interface, monster example, model output or advanced work.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This is your final flex slide. Use it only for evidence that genuinely helps us understand your solution — you do not need to fill all 15 slides.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SHOW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mperial College Word font theme">
      <a:majorFont>
        <a:latin typeface="Imperial Sans Text Medium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24992E7729B43A4CBB213D1F3530A" ma:contentTypeVersion="0" ma:contentTypeDescription="Create a new document." ma:contentTypeScope="" ma:versionID="1e735c939cfcce194ba4f11ed42698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138B0-E5A0-4159-937C-37C6A5C9338E}"/>
</file>

<file path=customXml/itemProps2.xml><?xml version="1.0" encoding="utf-8"?>
<ds:datastoreItem xmlns:ds="http://schemas.openxmlformats.org/officeDocument/2006/customXml" ds:itemID="{9E5212D4-9A44-4995-BE0F-97FB3E189DE7}">
  <ds:schemaRefs>
    <ds:schemaRef ds:uri="0dca51e2-d527-41d9-a8ae-702a4a244078"/>
    <ds:schemaRef ds:uri="5c9a932a-8c74-47bf-9b36-258edbce5ca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9FB992-E15F-4941-A07E-1FF8A96B49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Monster Hack – Team Submission Template</dc:title>
  <dc:subject>Mini Monster Hack student submission template</dc:subject>
  <dc:creator>Data CoLab</dc:creator>
  <cp:revision>1</cp:revision>
  <dcterms:created xsi:type="dcterms:W3CDTF">2026-10-21T14:57:24Z</dcterms:created>
  <dcterms:modified xsi:type="dcterms:W3CDTF">2026-10-22T13:44:17Z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0x0101005FB24992E7729B43A4CBB213D1F3530A</vt:lpwstr>
  </property>
  <property fmtid="{D5CDD505-2E9C-101B-9397-08002B2CF9AE}" pid="3" name="MediaServiceImageTags">
    <vt:lpwstr/>
  </property>
</Properties>
</file>