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6" r:id="rId8"/>
    <p:sldId id="259" r:id="rId9"/>
    <p:sldId id="260" r:id="rId10"/>
    <p:sldId id="267" r:id="rId11"/>
    <p:sldId id="268" r:id="rId12"/>
    <p:sldId id="261" r:id="rId13"/>
    <p:sldId id="262" r:id="rId14"/>
    <p:sldId id="269" r:id="rId15"/>
    <p:sldId id="270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Zombie</c:v>
                </c:pt>
                <c:pt idx="2">
                  <c:v>Werewolf</c:v>
                </c:pt>
                <c:pt idx="3">
                  <c:v>Doppelgänger</c:v>
                </c:pt>
                <c:pt idx="4">
                  <c:v>Phantom</c:v>
                </c:pt>
                <c:pt idx="5">
                  <c:v>Shape-shifter</c:v>
                </c:pt>
                <c:pt idx="6">
                  <c:v>Vampire</c:v>
                </c:pt>
                <c:pt idx="7">
                  <c:v>Undead Student</c:v>
                </c:pt>
                <c:pt idx="8">
                  <c:v>Ghost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25</c:v>
                </c:pt>
                <c:pt idx="2">
                  <c:v>32</c:v>
                </c:pt>
                <c:pt idx="3">
                  <c:v>60</c:v>
                </c:pt>
                <c:pt idx="4">
                  <c:v>77</c:v>
                </c:pt>
                <c:pt idx="5">
                  <c:v>79</c:v>
                </c:pt>
                <c:pt idx="6">
                  <c:v>91</c:v>
                </c:pt>
                <c:pt idx="7">
                  <c:v>92</c:v>
                </c:pt>
                <c:pt idx="8">
                  <c:v>148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.6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FF7A00"/>
            </a:solidFill>
          </c:spPr>
          <c:cat>
            <c:strRef>
              <c:f>Sheet1!$A$2:$A$5</c:f>
              <c:strCache>
                <c:ptCount val="4"/>
                <c:pt idx="0">
                  <c:v>Other pairs</c:v>
                </c:pt>
                <c:pt idx="1">
                  <c:v>Phantom + Werewolf</c:v>
                </c:pt>
                <c:pt idx="2">
                  <c:v>Ghost + Undead Student</c:v>
                </c:pt>
                <c:pt idx="3">
                  <c:v>Vampire + Zombie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13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822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TEMPLATE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11480" y="11704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MONSTER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38912" y="27249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00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evidence as you go.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438912" y="3182112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200">
                <a:solidFill>
                  <a:srgbClr val="A7B4B8"/>
                </a:solidFill>
                <a:latin typeface="Aptos"/>
              </a:rPr>
              <a:t>Complete the core slides as you go. Each section also includes up to 2 optional evidence slides, so screenshots, charts and outputs can stay large and readable. Submit the matching Excel/code files at each checkpoint and collect raffle entries throughout the day.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4370832"/>
            <a:ext cx="19202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607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FF7A00"/>
                </a:solidFill>
                <a:latin typeface="Aptos"/>
              </a:rPr>
              <a:t>MAXIMUM 15 SLIDES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4370832"/>
            <a:ext cx="21488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1760" y="4471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0D8D8"/>
                </a:solidFill>
                <a:latin typeface="Aptos"/>
              </a:rPr>
              <a:t>UP TO 2 EXTRA EVIDENCE SLIDES PER SECTION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4370832"/>
            <a:ext cx="224028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D8D8"/>
                </a:solidFill>
                <a:latin typeface="Aptos"/>
              </a:rPr>
              <a:t>FULL IDs GO IN EXCEL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24128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24128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manually</a:t>
            </a:r>
            <a:endParaRPr lang="en-US" sz="980"/>
          </a:p>
        </p:txBody>
      </p:sp>
      <p:sp>
        <p:nvSpPr>
          <p:cNvPr id="17" name="Shape 15"/>
          <p:cNvSpPr/>
          <p:nvPr/>
        </p:nvSpPr>
        <p:spPr>
          <a:xfrm>
            <a:off x="2724912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834640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4640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291840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291840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detector</a:t>
            </a:r>
            <a:endParaRPr lang="en-US" sz="980"/>
          </a:p>
        </p:txBody>
      </p:sp>
      <p:sp>
        <p:nvSpPr>
          <p:cNvPr id="22" name="Shape 20"/>
          <p:cNvSpPr/>
          <p:nvPr/>
        </p:nvSpPr>
        <p:spPr>
          <a:xfrm>
            <a:off x="4992624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02352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02352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559552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559552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10% test data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7260336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70064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70064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27264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7827264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early signs in 10%</a:t>
            </a:r>
            <a:endParaRPr lang="en-US" sz="980"/>
          </a:p>
        </p:txBody>
      </p:sp>
      <p:sp>
        <p:nvSpPr>
          <p:cNvPr id="32" name="Shape 30"/>
          <p:cNvSpPr/>
          <p:nvPr/>
        </p:nvSpPr>
        <p:spPr>
          <a:xfrm>
            <a:off x="9528048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637776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37776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0094976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94976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</a:rPr>
              <a:t>Best work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 rot="19800000">
            <a:off x="10087661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800000">
            <a:off x="11053267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966960" y="1476756"/>
            <a:ext cx="1584198" cy="1327709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68712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872216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04500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1008004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25201" y="2200961"/>
            <a:ext cx="497891" cy="256489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452360" y="2593238"/>
            <a:ext cx="4160520" cy="2152498"/>
          </a:xfrm>
          <a:prstGeom prst="rect">
            <a:avLst/>
          </a:prstGeom>
          <a:solidFill>
            <a:srgbClr val="0E171B"/>
          </a:solidFill>
          <a:ln w="12700">
            <a:solidFill>
              <a:srgbClr val="2234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3524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DETAILS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7543800" y="2926080"/>
            <a:ext cx="3703320" cy="1417320"/>
          </a:xfrm>
          <a:prstGeom prst="rect">
            <a:avLst/>
          </a:prstGeom>
          <a:noFill/>
          <a:ln/>
        </p:spPr>
        <p:txBody>
          <a:bodyPr wrap="square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Team name / number: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________________________________</a:t>
            </a:r>
            <a:br>
              <a:rPr/>
            </a:b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Team members: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endParaRPr lang="en-US" sz="112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1 — HUNT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How did you find the monsters?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We turned each Monster Guide clue into one rule and tested it on the 80% training data. The full P_ID + monster list is in the HUNT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86200" cy="15087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Our approach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53872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LMS and video activity merged into one timeline in UK time, then one SQL rule per monster.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Every rule tested in variants (thresholds, time zones, endpoints); we kept the strictest reading the clue supports, because false positives cost points.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3886200" cy="187452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4864" cy="187452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gave them away?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5387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duplicated rows, activity after deregistering, copied rows under a new P_ID or module.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fading after week 4, 3 h non-stop sessions, mostly at night, repeated 5x bursts, 200+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 + EXAMPLE PER MONSTER: SLIDE 4</a:t>
            </a:r>
          </a:p>
        </p:txBody>
      </p:sp>
      <p:sp>
        <p:nvSpPr>
          <p:cNvPr id="25" name="Shape 23"/>
          <p:cNvSpPr/>
          <p:nvPr/>
        </p:nvSpPr>
        <p:spPr>
          <a:xfrm>
            <a:off x="4553712" y="2084832"/>
            <a:ext cx="3749040" cy="35661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54864" cy="356616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6592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we find?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36592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F5F7F7"/>
                </a:solidFill>
                <a:latin typeface="Aptos"/>
              </a:rPr>
              <a:t>620 findings</a:t>
            </a:r>
            <a:r>
              <a:rPr sz="1050" b="0" i="0">
                <a:solidFill>
                  <a:srgbClr val="A7B4B8"/>
                </a:solidFill>
                <a:latin typeface="Aptos"/>
              </a:rPr>
              <a:t> across 586 students, all 9 monster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736592" y="52120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CAUGHT AS 2 MONSTERS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HUNT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slide(s) completed</a:t>
            </a:r>
            <a:endParaRPr lang="en-US" sz="112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0BC06-253E-6D66-331D-F07FF909ABB4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Excel IDs submitted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All monsters correctly identified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C443604-6245-FE79-848C-A6C0DDE168D0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HUNT Excel template for the full PID + monster type list.</a:t>
            </a:r>
            <a:endParaRPr lang="en-US" sz="99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54C57A-E0D9-7B5C-70DA-20817EA2112E}"/>
              </a:ext>
            </a:extLst>
          </p:cNvPr>
          <p:cNvGrpSpPr/>
          <p:nvPr/>
        </p:nvGrpSpPr>
        <p:grpSpPr>
          <a:xfrm>
            <a:off x="8851392" y="3927348"/>
            <a:ext cx="228600" cy="228600"/>
            <a:chOff x="8842248" y="3273552"/>
            <a:chExt cx="228600" cy="228600"/>
          </a:xfrm>
        </p:grpSpPr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1B0632D0-7526-2351-8559-B1854BDD4AD8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FE75A08-77E0-FA4F-8D8F-5E81114DBCBC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61" name="Text 47">
            <a:extLst>
              <a:ext uri="{FF2B5EF4-FFF2-40B4-BE49-F238E27FC236}">
                <a16:creationId xmlns:a16="http://schemas.microsoft.com/office/drawing/2014/main" id="{D5153D26-ACD5-A682-34A3-9A75E7608E55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62" name="HUNT chart"/>
          <p:cNvGraphicFramePr>
            <a:graphicFrameLocks noGrp="1"/>
          </p:cNvGraphicFramePr>
          <p:nvPr/>
        </p:nvGraphicFramePr>
        <p:xfrm>
          <a:off x="4681728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SECTION 1 — HUNT (OPTIONAL EVIDENCE 1 OF 2)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The clearest giveaways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Two findings no real student could produce, and one overlap worth knowing about.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Web Crawler: 529 pages in 2 min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P00010833 opened 529 distinct LMS items in 1 min 54 s on 14 Feb 2024. No human reads that fast.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RULE: OVER 200 ITEMS IN 12 H · 16 FOUND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830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8308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Doppelgänger: a perfect copy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P00002959 and P00336066 share the same 174 video views: same video, time, minutes and viewing type. Only the row IDs differ, and P00336066 isn't in person_dim.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8464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30 PAIRS · BOTH P_IDS SUBMITTED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3872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3872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Some students are two monsters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23 of our 25 Zombies are also Vampires: their 3-hour non-stop runs mostly happen at night. Overlaps are allowed, so each is submitted under both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8464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120" b="1" i="0">
                <a:solidFill>
                  <a:srgbClr val="FF7A00"/>
                </a:solidFill>
                <a:latin typeface="Aptos"/>
              </a:rPr>
              <a:t>HOW WE CHECKED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Counted every variant of each rule and compared the P_IDs it adds or drops</a:t>
            </a:r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Read the raw rows of the edge cases before choosing a threshold</a:t>
            </a:r>
          </a:p>
        </p:txBody>
      </p:sp>
      <p:sp>
        <p:nvSpPr>
          <p:cNvPr id="39" name="Text 37"/>
          <p:cNvSpPr/>
          <p:nvPr/>
        </p:nvSpPr>
        <p:spPr>
          <a:xfrm>
            <a:off x="8842248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19" b="0" i="1">
                <a:solidFill>
                  <a:srgbClr val="A7B4B8"/>
                </a:solidFill>
                <a:latin typeface="Aptos"/>
              </a:rPr>
              <a:t>Full P_ID list: HUNT Excel, MANUAL COMBINED.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316844-861F-4409-7B27-AA3E521B0C69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44E68BAA-8A03-CC7A-901A-C85E91053ABF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2659925F-B520-AB84-1913-DAA2174EE0D6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959A04-79B9-981B-A3FA-E346B375EAB7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CAD73F20-FA1E-875F-6556-A772BF23A92D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DBFD25B9-DCCF-DC76-C87E-5E380DA07545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aphicFrame>
        <p:nvGraphicFramePr>
          <p:cNvPr id="52" name="HUNT chart"/>
          <p:cNvGraphicFramePr>
            <a:graphicFrameLocks noGrp="1"/>
          </p:cNvGraphicFramePr>
          <p:nvPr/>
        </p:nvGraphicFramePr>
        <p:xfrm>
          <a:off x="4626864" y="3310128"/>
          <a:ext cx="356616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1 — HUNT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HUNT — What gave each monster away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One rule per monster, written from its Monster Guide clue, with one training example each.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6384" y="5413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TOTAL: 620 FINDINGS · 586 STUDENTS · FULL LIST IN THE HUNT EXCEL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  <p:graphicFrame>
        <p:nvGraphicFramePr>
          <p:cNvPr id="26" name="HUNT rules table"/>
          <p:cNvGraphicFramePr>
            <a:graphicFrameLocks noGrp="1"/>
          </p:cNvGraphicFramePr>
          <p:nvPr/>
        </p:nvGraphicFramePr>
        <p:xfrm>
          <a:off x="713232" y="2240280"/>
          <a:ext cx="10744199" cy="3108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4434840"/>
                <a:gridCol w="3977639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MONSTER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WHAT GAVE IT AWAY (OUR RULE)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TRAINING EXAMPLE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P_IDS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Phantom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Two activity rows identical in every field except the row ID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P00000693: one LMS click recorded twice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Ghost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Active in 3+ of weeks 1–4, then under 10% of that weekly rate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P00007556: 50 rows in weeks 1–3, then none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148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Zombie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Over 3 hours of activity with no gap longer than 15 minutes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P00020056: 23:44 to 04:52, longest gap 14 min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Vampire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21 night-active dates, and more nights than days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P00013423: 273 night dates vs 236 day dates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91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Undead Student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Any activity after the deregistration date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P00019372: 134 rows after deregistering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Doppelgänger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All of one P_ID's activity reappears under another P_ID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P00002959 = P00336066: same 174 video views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Werewolf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2+ bursts in each term at 5x the student's usual day (40+ rows)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P00017160: usually 5 rows a day, bursts of 90–167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200 distinct pages and videos within 12 hours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P00010833: 529 pages in under 2 minutes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Shape-shifter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Copied rows (_COPY_) on modules the student isn't registered on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P00006918: 22 copied rows on a D03 module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BUILD — Create your Monster Detector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Our nine HUNT rules became one detector that runs end to end with a single command.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3619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361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What did we build?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8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0">
                <a:solidFill>
                  <a:srgbClr val="F5F7F7"/>
                </a:solidFill>
                <a:latin typeface="Aptos"/>
              </a:rPr>
              <a:t>A Python program reads the LMS and video logs, builds one timeline per student and runs 9 rules, one per monster, each written from its clue and tested on the training data.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F5F7F7"/>
                </a:solidFill>
                <a:latin typeface="Aptos"/>
              </a:rPr>
              <a:t>Output: a paste-ready list of P_IDs and monster types.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35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ONE COMMAND · 9 RULES · ABOUT 15 S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794760" cy="181051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181051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signals does it use?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10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>
                <a:solidFill>
                  <a:srgbClr val="F5F7F7"/>
                </a:solidFill>
                <a:latin typeface="Aptos"/>
              </a:rPr>
              <a:t>exact duplicate rows · _COPY_ IDs · one student's rows under a 2nd ID · activity after the deregistration date.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>
                <a:solidFill>
                  <a:srgbClr val="F5F7F7"/>
                </a:solidFill>
                <a:latin typeface="Aptos"/>
              </a:rPr>
              <a:t>activity after week 4 vs before · longest run without a 15-min break · night vs day dates · days at 5x normal · distinct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33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FULL RULE PER MONSTER: SLIDE 4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2958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Show it working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2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Live run on the unseen TEST data </a:t>
            </a:r>
            <a:r>
              <a:rPr sz="1050" b="0">
                <a:solidFill>
                  <a:srgbClr val="A7B4B8"/>
                </a:solidFill>
                <a:latin typeface="Aptos"/>
              </a:rPr>
              <a:t>· about 15 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330000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71 FINDINGS · 70 STUDENTS · NO WEB CRAWLERS IN TEST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BUILD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Working Monster Detector shown running on the </a:t>
            </a:r>
            <a:r>
              <a:rPr lang="en-GB" sz="950">
                <a:solidFill>
                  <a:srgbClr val="F5F7F7"/>
                </a:solidFill>
                <a:latin typeface="Aptos"/>
              </a:rPr>
              <a:t>1</a:t>
            </a:r>
            <a:r>
              <a:rPr sz="950">
                <a:solidFill>
                  <a:srgbClr val="F5F7F7"/>
                </a:solidFill>
                <a:latin typeface="Aptos"/>
              </a:rPr>
              <a:t>0% TEST data</a:t>
            </a:r>
            <a:r>
              <a:rPr lang="en-GB" sz="950">
                <a:solidFill>
                  <a:srgbClr val="F5F7F7"/>
                </a:solidFill>
                <a:latin typeface="Aptos"/>
              </a:rPr>
              <a:t> (call us over to show it to us live)</a:t>
            </a:r>
            <a:endParaRPr lang="en-US" sz="1120"/>
          </a:p>
        </p:txBody>
      </p:sp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Working code submitted</a:t>
            </a:r>
            <a:endParaRPr lang="en-US" sz="1120"/>
          </a:p>
        </p:txBody>
      </p:sp>
      <p:sp>
        <p:nvSpPr>
          <p:cNvPr id="39" name="Shape 37"/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71013"/>
                </a:solidFill>
                <a:latin typeface="Arial"/>
              </a:rPr>
              <a:t>→</a:t>
            </a:r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20">
                <a:solidFill>
                  <a:srgbClr val="DCE7E9"/>
                </a:solidFill>
                <a:latin typeface="Aptos"/>
              </a:rPr>
              <a:t>TEST raffle checks continue on the next slide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780E956-09B2-3315-A429-F7825D02DC2B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 </a:t>
            </a:r>
            <a:r>
              <a:rPr sz="900" b="1">
                <a:solidFill>
                  <a:srgbClr val="A7B4B8"/>
                </a:solidFill>
                <a:latin typeface="Aptos"/>
              </a:rPr>
              <a:t>=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2</a:t>
            </a:r>
            <a:r>
              <a:rPr sz="900" b="1">
                <a:solidFill>
                  <a:srgbClr val="A7B4B8"/>
                </a:solidFill>
                <a:latin typeface="Aptos"/>
              </a:rPr>
              <a:t> raffle entries</a:t>
            </a:r>
            <a:endParaRPr lang="en-US" sz="1020"/>
          </a:p>
        </p:txBody>
      </p:sp>
      <p:pic>
        <p:nvPicPr>
          <p:cNvPr id="46" name="Picture 45" descr="build_test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880000"/>
            <a:ext cx="3465576" cy="2200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TEST — What did your detector find?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Use this slide for the results from the unseen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1</a:t>
            </a:r>
            <a:r>
              <a:rPr sz="1100">
                <a:solidFill>
                  <a:srgbClr val="A7B4B8"/>
                </a:solidFill>
                <a:latin typeface="Aptos"/>
              </a:rPr>
              <a:t>0% test data. You can devote most of the space to screenshots, charts or output.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TEST result summary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did your detector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find</a:t>
            </a:r>
            <a:r>
              <a:rPr sz="1050">
                <a:solidFill>
                  <a:srgbClr val="A7B4B8"/>
                </a:solidFill>
                <a:latin typeface="Aptos"/>
              </a:rPr>
              <a:t>? </a:t>
            </a:r>
            <a:r>
              <a:rPr sz="1050" err="1">
                <a:solidFill>
                  <a:srgbClr val="A7B4B8"/>
                </a:solidFill>
                <a:latin typeface="Aptos"/>
              </a:rPr>
              <a:t>Summarise</a:t>
            </a:r>
            <a:r>
              <a:rPr sz="1050">
                <a:solidFill>
                  <a:srgbClr val="A7B4B8"/>
                </a:solidFill>
                <a:latin typeface="Aptos"/>
              </a:rPr>
              <a:t> the result briefly — the full PID +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detected </a:t>
            </a:r>
            <a:r>
              <a:rPr sz="1050">
                <a:solidFill>
                  <a:srgbClr val="A7B4B8"/>
                </a:solidFill>
                <a:latin typeface="Aptos"/>
              </a:rPr>
              <a:t>monster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type </a:t>
            </a:r>
            <a:r>
              <a:rPr sz="1050">
                <a:solidFill>
                  <a:srgbClr val="A7B4B8"/>
                </a:solidFill>
                <a:latin typeface="Aptos"/>
              </a:rPr>
              <a:t>list goes in the TEST Excel submission.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RESULT SUMMARY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9222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9222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Large evidence area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Use this space for your strongest test screenshot, chart, confusion matrix, output table or other evidence.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9379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TEST VISUAL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4787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4787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What did you notice?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One or two useful observations from the unseen run. What worked? What surprised you?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93792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1–2 SHORT POINTS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TEST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slide(s) completed</a:t>
            </a:r>
            <a:endParaRPr lang="en-US" sz="112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6D2A0D-2AF6-8968-8C76-6A06F59955D5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Excel IDs submitted</a:t>
            </a:r>
            <a:endParaRPr lang="en-US" sz="1120"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19">
                <a:solidFill>
                  <a:srgbClr val="F5F7F7"/>
                </a:solidFill>
                <a:latin typeface="Aptos"/>
              </a:rPr>
              <a:t>All monsters correctly identified in TEST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A6D44B6-DC0D-223A-D3A4-48A197CEEF65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TEST Excel template for the full PID + monster type list.</a:t>
            </a:r>
            <a:endParaRPr lang="en-US" sz="99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BF128F6-A54D-739F-17F8-9EAA4D2E9AA6}"/>
              </a:ext>
            </a:extLst>
          </p:cNvPr>
          <p:cNvGrpSpPr/>
          <p:nvPr/>
        </p:nvGrpSpPr>
        <p:grpSpPr>
          <a:xfrm>
            <a:off x="8846820" y="3904309"/>
            <a:ext cx="228600" cy="228600"/>
            <a:chOff x="8842248" y="3273552"/>
            <a:chExt cx="228600" cy="228600"/>
          </a:xfrm>
        </p:grpSpPr>
        <p:sp>
          <p:nvSpPr>
            <p:cNvPr id="50" name="Shape 34">
              <a:extLst>
                <a:ext uri="{FF2B5EF4-FFF2-40B4-BE49-F238E27FC236}">
                  <a16:creationId xmlns:a16="http://schemas.microsoft.com/office/drawing/2014/main" id="{5B300B4D-2230-6C3B-A4C7-AC4EBAD5BF64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75F2B10D-2152-9C76-34CD-5C5A6EAAC593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53" name="Text 47">
            <a:extLst>
              <a:ext uri="{FF2B5EF4-FFF2-40B4-BE49-F238E27FC236}">
                <a16:creationId xmlns:a16="http://schemas.microsoft.com/office/drawing/2014/main" id="{D1CDC15E-D454-0265-3173-1ACE2AA2FA33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behavioural monster or monsters are you predicting?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NAME THE MONSTER(S)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would “starting to turn into” this monster look like before the full monster behaviour appears?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WRITE YOUR DEFINITION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trends, features or changes will your model look for? Explain why you think they are meaningful.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FEATURES / LOGIC / EXAMPLES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Summarise the students your model identified and what they may be turning into. Keep the full list in Excel.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SUMMARY / TABLE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198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Explain what your model is seeing and why those patterns support your prediction.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1–3 SHORT POINTS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a chart, trend, feature importance, model output or another piece of evidence. Screenshots can be large.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3218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PREDICT VISUAL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385876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62272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5152" y="3968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Bonus / advanced work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3511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end, explainability, extra visualisations, advanced modelling or anything else you explored.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(PART 1)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Your 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best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Give us the quickest possible view of your strongest work. Use this slide for the result, interface, visual or output you most want us to see.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3" y="2231983"/>
            <a:ext cx="6240949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5F7F7"/>
                </a:solidFill>
                <a:latin typeface="Aptos"/>
              </a:rPr>
              <a:t>BEST OUTPUT / DEMO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Add a large screenshot, </a:t>
            </a:r>
            <a:r>
              <a:rPr sz="1200" err="1">
                <a:solidFill>
                  <a:srgbClr val="F5F7F7"/>
                </a:solidFill>
                <a:latin typeface="Aptos"/>
              </a:rPr>
              <a:t>visualisation</a:t>
            </a:r>
            <a:r>
              <a:rPr sz="1200">
                <a:solidFill>
                  <a:srgbClr val="F5F7F7"/>
                </a:solidFill>
                <a:latin typeface="Aptos"/>
              </a:rPr>
              <a:t>, model output or front-end view here.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Keep any explanation short — let the evidence do the work.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FINAL SCREENSHOT / OUTPUT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7A00"/>
                </a:solidFill>
                <a:latin typeface="Aptos"/>
              </a:rPr>
              <a:t>SHOW — PART 1 OF 2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4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400" b="1">
                <a:solidFill>
                  <a:srgbClr val="F5F7F7"/>
                </a:solidFill>
                <a:latin typeface="Arial Black"/>
              </a:rPr>
              <a:t> — What should the judges remember?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for the short story behind your final solution, supporting visuals, AI use or advanced work. Delete it if the core SHOW slide is enough.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F5F7F7"/>
                </a:solidFill>
                <a:latin typeface="Aptos"/>
              </a:rPr>
              <a:t>WHAT ARE WE PROUD OF?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Your strongest idea, discovery or technical achievement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HOW DID WE USE AI?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Where AI tools helped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What your team checked, changed or built yourselves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BONUS / ADVANCED WORK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Front end, explainability, extra modelling or </a:t>
            </a:r>
            <a:r>
              <a:rPr sz="1150" err="1">
                <a:solidFill>
                  <a:srgbClr val="F5F7F7"/>
                </a:solidFill>
                <a:latin typeface="Aptos"/>
              </a:rPr>
              <a:t>visualisations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SUPPORTING VISUALS / SHORT POINTS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6647" y="5189220"/>
            <a:ext cx="2926080" cy="1188720"/>
          </a:xfrm>
          <a:prstGeom prst="roundRect">
            <a:avLst/>
          </a:prstGeom>
          <a:solidFill>
            <a:srgbClr val="152329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/>
            <a:r>
              <a:rPr sz="880" b="0">
                <a:solidFill>
                  <a:srgbClr val="F5F7F7"/>
                </a:solidFill>
                <a:latin typeface="Arial"/>
              </a:rPr>
              <a:t>FINAL ESCAPE CHECK
✓ HUNT Excel submitted
✓ TEST Excel submitted
✓ PREDICT Excel submitted
✓ Working code submitted
✓ Model/output can be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final optional slide only if you still need space for an important screenshot, chart, interface, monster example, model output or advanced work.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your final flex slide. Use it only for evidence that genuinely helps us understand your solution — you do not need to fill all 15 slides.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SHOW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